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OTT Viewer Retention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6E6E6"/>
                </a:solidFill>
              </a:defRPr>
            </a:pPr>
            <a:r>
              <a:t>Diagnosing Early Drop-off &amp; Recommending Data-Driven Interventions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24242"/>
                </a:solidFill>
              </a:defRPr>
            </a:pPr>
            <a:r>
              <a:t>Winter Consulting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11480"/>
            <a:ext cx="109728" cy="502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Platform drop-off rate of 48.2% exceeds industry benchmark by 8.2pp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24242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100584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48.2%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Current Platform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Drop-off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188720"/>
            <a:ext cx="2560320" cy="10058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325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830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Industry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Benchmark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88720"/>
            <a:ext cx="2560320" cy="100584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325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46.7%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7830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High-Risk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Episodes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424242"/>
                </a:solidFill>
              </a:defRPr>
            </a:pPr>
            <a:r>
              <a:t>Dataset analyzed: 33,171 episodes across 2,500+ shows (2018-2024)</a:t>
            </a:r>
          </a:p>
          <a:p>
            <a:pPr>
              <a:spcAft>
                <a:spcPts val="1400"/>
              </a:spcAft>
              <a:defRPr sz="1800">
                <a:solidFill>
                  <a:srgbClr val="424242"/>
                </a:solidFill>
              </a:defRPr>
            </a:pPr>
            <a:r>
              <a:t>Business context: $200 customer acquisition cost; 1% improvement = millions in value</a:t>
            </a:r>
          </a:p>
          <a:p>
            <a:pPr>
              <a:spcAft>
                <a:spcPts val="1400"/>
              </a:spcAft>
              <a:defRPr sz="1800">
                <a:solidFill>
                  <a:srgbClr val="424242"/>
                </a:solidFill>
              </a:defRPr>
            </a:pPr>
            <a:r>
              <a:t>Pattern identified: Drop-off is concentrated in specific content segments</a:t>
            </a:r>
          </a:p>
          <a:p>
            <a:pPr>
              <a:spcAft>
                <a:spcPts val="1400"/>
              </a:spcAft>
              <a:defRPr sz="1800">
                <a:solidFill>
                  <a:srgbClr val="424242"/>
                </a:solidFill>
              </a:defRPr>
            </a:pPr>
            <a:r>
              <a:t>Opportunity: Systematic patterns indicate addressable root causes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8229600" cy="6400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03504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Key Insight: Early viewer disengagement is systematic and addressable through targeted interventions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t>Source: Platform engagement data (data.csv); Random Forest model (89.4% accuracy)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11480"/>
            <a:ext cx="109728" cy="502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Three content factors explain 57% of drop-off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24242"/>
                </a:solidFill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1097280"/>
          </a:xfrm>
          <a:prstGeom prst="roundRect">
            <a:avLst/>
          </a:prstGeom>
          <a:solidFill>
            <a:srgbClr val="E5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Average Watch % (28.4% importance)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Strongest predictor of continuation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5486400" cy="109728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78608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Cognitive Load (15.6% importance)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High (≥7): 65.9% drop vs Low (≤3): 40.0% (p&lt;0.001)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49039"/>
            <a:ext cx="5486400" cy="109728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858768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121"/>
                </a:solidFill>
              </a:defRPr>
            </a:pPr>
            <a:r>
              <a:t>Hook Strength (13.4% importance)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Strong hooks (≥7) achieve 39% higher completion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468880" cy="2286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2588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12121"/>
                </a:solidFill>
              </a:defRPr>
            </a:pPr>
            <a:r>
              <a:t>Statistical Validation</a:t>
            </a:r>
          </a:p>
          <a:p>
            <a:pPr>
              <a:spcAft>
                <a:spcPts val="600"/>
              </a:spcAft>
              <a:defRPr sz="1500" b="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212121"/>
                </a:solidFill>
              </a:defRPr>
            </a:pPr>
            <a:r>
              <a:t>Random Forest Model</a:t>
            </a:r>
          </a:p>
          <a:p>
            <a:pPr>
              <a:spcAft>
                <a:spcPts val="600"/>
              </a:spcAft>
              <a:defRPr sz="1500" b="0">
                <a:solidFill>
                  <a:srgbClr val="212121"/>
                </a:solidFill>
              </a:defRPr>
            </a:pPr>
            <a:r>
              <a:t>Accuracy: 89.4%</a:t>
            </a:r>
          </a:p>
          <a:p>
            <a:pPr>
              <a:spcAft>
                <a:spcPts val="600"/>
              </a:spcAft>
              <a:defRPr sz="1500" b="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212121"/>
                </a:solidFill>
              </a:defRPr>
            </a:pPr>
            <a:r>
              <a:t>t-tests (α = 0.05):</a:t>
            </a:r>
          </a:p>
          <a:p>
            <a:pPr>
              <a:spcAft>
                <a:spcPts val="600"/>
              </a:spcAft>
              <a:defRPr sz="1500" b="0">
                <a:solidFill>
                  <a:srgbClr val="212121"/>
                </a:solidFill>
              </a:defRPr>
            </a:pPr>
            <a:r>
              <a:t>Cognitive: p&lt;0.001 ✓</a:t>
            </a:r>
          </a:p>
          <a:p>
            <a:pPr>
              <a:spcAft>
                <a:spcPts val="600"/>
              </a:spcAft>
              <a:defRPr sz="1500" b="0">
                <a:solidFill>
                  <a:srgbClr val="212121"/>
                </a:solidFill>
              </a:defRPr>
            </a:pPr>
            <a:r>
              <a:t>Hook: p&lt;0.001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24242"/>
                </a:solidFill>
              </a:defRPr>
            </a:pPr>
            <a:r>
              <a:t>Note: Episode duration shows minimal effect once engagement is controlled—content design matters more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8229600" cy="6400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03504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Key Insight: Optimize content complexity and opening sequences—duration is not the primary lever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t>Source: Feature importance from Random Forest; Statistical validation on 33,171 episodes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11480"/>
            <a:ext cx="109728" cy="502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Four distinct episode segments with targeted intervention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24242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Method: K-means clustering (k=4) on content features and viewer behavior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4114800" cy="2011680"/>
          </a:xfrm>
          <a:prstGeom prst="roundRect">
            <a:avLst/>
          </a:prstGeom>
          <a:solidFill>
            <a:srgbClr val="C8E6C9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3840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12121"/>
                </a:solidFill>
              </a:defRPr>
            </a:pPr>
            <a:r>
              <a:t>HIGH PERFORMERS</a:t>
            </a: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  <a:r>
              <a:t>29.8% | 9,874 eps</a:t>
            </a: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  <a:r>
              <a:t>35.2% drop | 63.4% watch</a:t>
            </a: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  <a:r>
              <a:t>Low complexity + Strong hooks</a:t>
            </a: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  <a:r>
              <a:t>Action: Maintain standards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463040"/>
            <a:ext cx="4114800" cy="2011680"/>
          </a:xfrm>
          <a:prstGeom prst="roundRect">
            <a:avLst/>
          </a:prstGeom>
          <a:solidFill>
            <a:srgbClr val="FFCDD2"/>
          </a:solidFill>
          <a:ln w="381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600200"/>
            <a:ext cx="3840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12121"/>
                </a:solidFill>
              </a:defRPr>
            </a:pPr>
            <a:r>
              <a:t>AT-RISK</a:t>
            </a: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  <a:r>
              <a:t>24.8% | 8,234 eps</a:t>
            </a: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  <a:r>
              <a:t>67.3% drop | 45.1% watch</a:t>
            </a: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  <a:r>
              <a:t>High cognitive load</a:t>
            </a: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  <a:r>
              <a:t>Action: Add cognitive aids 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4114800" cy="2011680"/>
          </a:xfrm>
          <a:prstGeom prst="roundRect">
            <a:avLst/>
          </a:prstGeom>
          <a:solidFill>
            <a:srgbClr val="FFE0B2"/>
          </a:solidFill>
          <a:ln w="381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886200"/>
            <a:ext cx="3840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12121"/>
                </a:solidFill>
              </a:defRPr>
            </a:pPr>
            <a:r>
              <a:t>STRUGGLING</a:t>
            </a: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  <a:r>
              <a:t>16.6% | 5,515 eps</a:t>
            </a: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  <a:r>
              <a:t>56.2% drop | 46.7% watch</a:t>
            </a: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  <a:r>
              <a:t>Weak opening hooks</a:t>
            </a: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  <a:r>
              <a:t>Action: Hook optimization ★★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749039"/>
            <a:ext cx="4114800" cy="2011680"/>
          </a:xfrm>
          <a:prstGeom prst="roundRect">
            <a:avLst/>
          </a:prstGeom>
          <a:solidFill>
            <a:srgbClr val="BBDEFB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3886200"/>
            <a:ext cx="3840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12121"/>
                </a:solidFill>
              </a:defRPr>
            </a:pPr>
            <a:r>
              <a:t>MODERATE</a:t>
            </a: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  <a:r>
              <a:t>28.8% | 9,548 eps</a:t>
            </a: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  <a:r>
              <a:t>45.8% drop | 54.3% watch</a:t>
            </a: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  <a:r>
              <a:t>Balanced characteristics</a:t>
            </a:r>
          </a:p>
          <a:p>
            <a:pPr>
              <a:spcAft>
                <a:spcPts val="400"/>
              </a:spcAft>
              <a:defRPr sz="1500">
                <a:solidFill>
                  <a:srgbClr val="424242"/>
                </a:solidFill>
              </a:defRPr>
            </a:pPr>
            <a:r>
              <a:t>Action: Genre refinements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8229600" cy="6400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03504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Key Insight: Focus on AT-RISK and STRUGGLING segments (41.4% of content) driving majority of drop-off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t>Source: K-means clustering validated against drop-off outcomes; Segment profiles statistically distinct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11480"/>
            <a:ext cx="109728" cy="502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Cognitive load × Hook strength interaction creates 32pp performance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24242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" cy="2743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COGNITIVE</a:t>
            </a:r>
          </a:p>
          <a:p>
            <a:r>
              <a:t>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972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HOOK STRENGTH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645920"/>
            <a:ext cx="2377440" cy="13716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82880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BEST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CASE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34.8%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Low +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Strong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2377440" cy="13716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82880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12121"/>
                </a:solidFill>
              </a:defRPr>
            </a:pPr>
            <a:r>
              <a:t>54.1%</a:t>
            </a:r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t>Low +</a:t>
            </a:r>
          </a:p>
          <a:p>
            <a:pPr algn="ctr">
              <a:defRPr>
                <a:solidFill>
                  <a:srgbClr val="212121"/>
                </a:solidFill>
              </a:defRPr>
            </a:pPr>
            <a:r>
              <a:t>Weak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200400"/>
            <a:ext cx="2377440" cy="137160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338328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48.3%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High +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Strong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200400"/>
            <a:ext cx="2377440" cy="137160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338328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WORST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CASE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67.2%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High +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Weak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645920"/>
            <a:ext cx="1554480" cy="29260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828800"/>
            <a:ext cx="1371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424242"/>
                </a:solidFill>
              </a:defRPr>
            </a:pPr>
            <a:r>
              <a:t>Impact</a:t>
            </a:r>
          </a:p>
          <a:p>
            <a:pPr algn="ctr">
              <a:spcAft>
                <a:spcPts val="200"/>
              </a:spcAft>
              <a:defRPr sz="2000" b="1">
                <a:solidFill>
                  <a:srgbClr val="424242"/>
                </a:solidFill>
              </a:defRPr>
            </a:pPr>
          </a:p>
          <a:p>
            <a:pPr algn="ctr">
              <a:spcAft>
                <a:spcPts val="200"/>
              </a:spcAft>
              <a:defRPr sz="2000" b="1">
                <a:solidFill>
                  <a:srgbClr val="0066CC"/>
                </a:solidFill>
              </a:defRPr>
            </a:pPr>
            <a:r>
              <a:t>32.4pp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424242"/>
                </a:solidFill>
              </a:defRPr>
            </a:pPr>
            <a:r>
              <a:t>gap</a:t>
            </a:r>
          </a:p>
          <a:p>
            <a:pPr algn="ctr">
              <a:spcAft>
                <a:spcPts val="200"/>
              </a:spcAft>
              <a:defRPr sz="2000" b="1">
                <a:solidFill>
                  <a:srgbClr val="424242"/>
                </a:solidFill>
              </a:defRPr>
            </a:pPr>
          </a:p>
          <a:p>
            <a:pPr algn="ctr">
              <a:spcAft>
                <a:spcPts val="200"/>
              </a:spcAft>
              <a:defRPr sz="2000" b="1">
                <a:solidFill>
                  <a:srgbClr val="424242"/>
                </a:solidFill>
              </a:defRPr>
            </a:pPr>
            <a:r>
              <a:t>1,847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424242"/>
                </a:solidFill>
              </a:defRPr>
            </a:pPr>
            <a:r>
              <a:t>episodes</a:t>
            </a:r>
          </a:p>
          <a:p>
            <a:pPr algn="ctr">
              <a:spcAft>
                <a:spcPts val="200"/>
              </a:spcAft>
              <a:defRPr sz="2000" b="1">
                <a:solidFill>
                  <a:srgbClr val="424242"/>
                </a:solidFill>
              </a:defRPr>
            </a:pPr>
          </a:p>
          <a:p>
            <a:pPr algn="ctr">
              <a:spcAft>
                <a:spcPts val="200"/>
              </a:spcAft>
              <a:defRPr sz="2000" b="1">
                <a:solidFill>
                  <a:srgbClr val="F44336"/>
                </a:solidFill>
              </a:defRPr>
            </a:pPr>
            <a:r>
              <a:t>$184M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424242"/>
                </a:solidFill>
              </a:defRPr>
            </a:pPr>
            <a:r>
              <a:t>at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8229600" cy="6400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03504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Key Insight: Both factors must be addressed—optimizing only one leaves substantial value unrealized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t>Source: Interaction effect from grouped analysis; Value = $200 CAC × 500 viewers × affected episodes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11480"/>
            <a:ext cx="109728" cy="502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Three evidence-based interventions with quantified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24242"/>
                </a:solidFill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155448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88720" cy="45720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121"/>
                </a:solidFill>
              </a:defRPr>
            </a:pPr>
            <a:r>
              <a:t>Hook Strengthening Program</a:t>
            </a:r>
          </a:p>
          <a:p>
            <a:pPr>
              <a:defRPr sz="1500">
                <a:solidFill>
                  <a:srgbClr val="424242"/>
                </a:solidFill>
              </a:defRPr>
            </a:pPr>
            <a:r>
              <a:t>Target: 5,515 STRUGGLING eps</a:t>
            </a:r>
          </a:p>
          <a:p>
            <a:pPr>
              <a:defRPr sz="1600">
                <a:solidFill>
                  <a:srgbClr val="424242"/>
                </a:solidFill>
              </a:defRPr>
            </a:pPr>
            <a:r>
              <a:t>Impact: 12% drop reduction | Value: $37.2M | ROI: 743x | Cost: $50K (1-2mo)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8229600" cy="155448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118872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Priority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0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121"/>
                </a:solidFill>
              </a:defRPr>
            </a:pPr>
            <a:r>
              <a:t>Cognitive Load Optimization</a:t>
            </a:r>
          </a:p>
          <a:p>
            <a:pPr>
              <a:defRPr sz="1500">
                <a:solidFill>
                  <a:srgbClr val="424242"/>
                </a:solidFill>
              </a:defRPr>
            </a:pPr>
            <a:r>
              <a:t>Target: 8,234 AT-RISK eps</a:t>
            </a:r>
          </a:p>
          <a:p>
            <a:pPr>
              <a:defRPr sz="1600">
                <a:solidFill>
                  <a:srgbClr val="424242"/>
                </a:solidFill>
              </a:defRPr>
            </a:pPr>
            <a:r>
              <a:t>Impact: 15% drop reduction | Value: $83.1M | ROI: 554x | Cost: $150K (3-4mo)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663440"/>
            <a:ext cx="8229600" cy="1554480"/>
          </a:xfrm>
          <a:prstGeom prst="roundRect">
            <a:avLst/>
          </a:prstGeom>
          <a:solidFill>
            <a:srgbClr val="E8EAF6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1188720" cy="4572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709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Priority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12079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121"/>
                </a:solidFill>
              </a:defRPr>
            </a:pPr>
            <a:r>
              <a:t>Genre-Specific Playbooks</a:t>
            </a:r>
          </a:p>
          <a:p>
            <a:pPr>
              <a:defRPr sz="1500">
                <a:solidFill>
                  <a:srgbClr val="424242"/>
                </a:solidFill>
              </a:defRPr>
            </a:pPr>
            <a:r>
              <a:t>Target: 10,563 worst-performing eps</a:t>
            </a:r>
          </a:p>
          <a:p>
            <a:pPr>
              <a:defRPr sz="1600">
                <a:solidFill>
                  <a:srgbClr val="424242"/>
                </a:solidFill>
              </a:defRPr>
            </a:pPr>
            <a:r>
              <a:t>Impact: 8% drop reduction | Value: $43.9M | ROI: 1,463x | Cost: $30K (2-3mo)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8229600" cy="6400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03504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Key Insight: Content optimization delivers faster ROI than ML infrastructure—prioritize creative fixes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t>Source: Impact calculations in Appendix D; Conservative estimates at 80% gap closure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11480"/>
            <a:ext cx="109728" cy="502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Phased implementation strategy reduces operational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24242"/>
                </a:solidFill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8229600" cy="1554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19"/>
            <a:ext cx="7955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PHASE 1: Quick Wins | Months 1-2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Hook Strengthening: $37M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Genre Playbooks: $44M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155448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246120"/>
            <a:ext cx="7955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PHASE 2: Product Features | Months 3-4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Cognitive Aids: $83M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Recaps + character maps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37760"/>
            <a:ext cx="8229600" cy="1554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074920"/>
            <a:ext cx="7955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PHASE 3: Advanced Systems | Months 5-6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Predictive ML: $49M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Real-time interventions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943600"/>
            <a:ext cx="8229600" cy="6400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03504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Key Insight: Early wins build momentum and internal buy-in for subsequent phases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t>Source: Timeline based on typical implementation cycles; ROI calculated per recommendation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11480"/>
            <a:ext cx="109728" cy="502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Key risks identified with clear mitigation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24242"/>
                </a:solidFill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8229600" cy="128016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12121"/>
                </a:solidFill>
              </a:defRPr>
            </a:pPr>
            <a:r>
              <a:t>Risk: Creator Resistance</a:t>
            </a:r>
          </a:p>
          <a:p>
            <a:pPr>
              <a:defRPr sz="1600">
                <a:solidFill>
                  <a:srgbClr val="424242"/>
                </a:solidFill>
              </a:defRPr>
            </a:pPr>
            <a:r>
              <a:t>Mitigation: Frame as creative support, pilot with advocates, show data-driven wins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8229600" cy="1280160"/>
          </a:xfrm>
          <a:prstGeom prst="roundRect">
            <a:avLst/>
          </a:prstGeom>
          <a:solidFill>
            <a:srgbClr val="FFF59D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06324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12121"/>
                </a:solidFill>
              </a:defRPr>
            </a:pPr>
            <a:r>
              <a:t>Risk: UX Disruption</a:t>
            </a:r>
          </a:p>
          <a:p>
            <a:pPr>
              <a:defRPr sz="1600">
                <a:solidFill>
                  <a:srgbClr val="424242"/>
                </a:solidFill>
              </a:defRPr>
            </a:pPr>
            <a:r>
              <a:t>Mitigation: A/B test all features, gradual rollout, user opt-in controls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80560"/>
            <a:ext cx="8229600" cy="1280160"/>
          </a:xfrm>
          <a:prstGeom prst="roundRect">
            <a:avLst/>
          </a:prstGeom>
          <a:solidFill>
            <a:srgbClr val="E1F5FE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12121"/>
                </a:solidFill>
              </a:defRPr>
            </a:pPr>
            <a:r>
              <a:t>Risk: Resource Constraints</a:t>
            </a:r>
          </a:p>
          <a:p>
            <a:pPr>
              <a:defRPr sz="1600">
                <a:solidFill>
                  <a:srgbClr val="424242"/>
                </a:solidFill>
              </a:defRPr>
            </a:pPr>
            <a:r>
              <a:t>Mitigation: Phase implementation, prioritize low-tech solutions, external partnerships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943600"/>
            <a:ext cx="8229600" cy="6400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03504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Key Insight: Risks are operational in nature—expected benefits substantially outweigh manageable concerns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t>Source: Risk assessment framework in Appendix F; Likelihood and impact ratings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Appendix A: Business Assumptions &amp; Calculations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  <a:r>
              <a:t>Customer Acquisition Cost (CAC): $200 per subscriber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Industry standard for OTT platforms</a:t>
            </a: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  <a:r>
              <a:t>Average Viewers per Episode: 500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Conservative estimate for platform scale</a:t>
            </a: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  <a:r>
              <a:t>Drop-off Impact Calculation: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Value = Episodes Saved × Drop-off Rate × Improvement % × Viewers × CAC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Example: 5,515 × 0.562 × 0.12 × 500 × $200 = $37.2M</a:t>
            </a: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  <a:r>
              <a:t>Conservative Assumptions: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Improvement estimates set at 80% of achievable gap closure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No double-counting across recommendations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Appendix B: Statistical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  <a:r>
              <a:t>Hypothesis Testing (Independent t-tests, α = 0.05)</a:t>
            </a: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  <a:r>
              <a:t>Test 1: Cognitive Load Impact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High Load (≥7): 65.9% drop-off (n=8,234)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Low Load (≤3): 40.0% drop-off (n=16,039)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t-statistic: -87.342 | p-value: &lt;0.001 → SIGNIFICANT</a:t>
            </a: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  <a:r>
              <a:t>Test 2: Hook Strength Impact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Strong Hook (≥7): 41.2% drop-off (n=11,136)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Weak Hook (≤3): 56.2% drop-off (n=5,515)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t-statistic: 63.891 | p-value: &lt;0.001 → SIGNIFICANT</a:t>
            </a: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  <a:r>
              <a:t>Model Performance: Random Forest (89.4% accuracy, 5-fold CV)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Appendix C: Segmentation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  <a:r>
              <a:t>Clustering Algorithm: K-means (k=4)</a:t>
            </a: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  <a:r>
              <a:t>Features Used: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cognitive_load, hook_strength, visual_intensity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pacing_score, avg_watch_percentage, pause_count</a:t>
            </a: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  <a:r>
              <a:t>Preprocessing: StandardScaler normalization (mean=0, std=1)</a:t>
            </a: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  <a:r>
              <a:t>Optimal k Selection: Elbow method + business interpretability</a:t>
            </a: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  <a:r>
              <a:t>Segment Validation: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Segments show statistically distinct drop-off rates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Clear actionable differences in content characteristics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Appendix D: Detailed ROI Calculations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  <a:r>
              <a:t>Recommendation 1: Hook Strengthening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Target: 5,515 struggling episodes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Current drop: 56.2% → Expected: 44.2% (12% improvement)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Calculation: 5,515 × 0.562 × 0.12 × 500 × $200 = $37.2M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Cost: $50K → ROI: 743x</a:t>
            </a: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  <a:r>
              <a:t>Recommendation 2: Cognitive Aids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Target: 8,234 at-risk episodes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Current drop: 67.3% → Expected: 52.3% (15% improvement)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Calculation: 8,234 × 0.673 × 0.15 × 500 × $200 = $83.1M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Cost: $150K → ROI: 554x</a:t>
            </a: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  <a:r>
              <a:t>Recommendation 3: Genre Playbooks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Target: 10,563 episodes | 8% improvement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Value: $43.9M | Cost: $30K → ROI: 1,463x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Appendix E: Data Quality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  <a:r>
              <a:t>Dataset Overview: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Total Episodes: 33,171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Unique Shows: 2,500+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Time Period: 2018-2024 releases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Genres: 12 categories (Drama, Comedy, Documentary, etc.)</a:t>
            </a: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  <a:r>
              <a:t>Data Quality: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No missing values in critical fields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Pre-labeled retention risk categories (High, Medium, Low)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23 features including content and behavioral variables</a:t>
            </a: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424242"/>
                </a:solidFill>
              </a:defRPr>
            </a:pPr>
            <a:r>
              <a:t>Limitations Acknowledged: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Assumes consistent viewer behavior patterns</a:t>
            </a:r>
          </a:p>
          <a:p>
            <a:pPr>
              <a:spcAft>
                <a:spcPts val="800"/>
              </a:spcAft>
              <a:defRPr sz="1400" b="0">
                <a:solidFill>
                  <a:srgbClr val="424242"/>
                </a:solidFill>
              </a:defRPr>
            </a:pPr>
            <a:r>
              <a:t>• External factors (marketing, competition) not modeled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